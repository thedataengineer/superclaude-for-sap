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29BD343-FC51-4D8C-8245-8A96983CA8CE}">
  <a:tblStyle styleId="{C29BD343-FC51-4D8C-8245-8A96983CA8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bold.fntdata"/><Relationship Id="rId25" Type="http://schemas.openxmlformats.org/officeDocument/2006/relationships/font" Target="fonts/PoppinsMedium-regular.fntdata"/><Relationship Id="rId28" Type="http://schemas.openxmlformats.org/officeDocument/2006/relationships/font" Target="fonts/PoppinsMedium-boldItalic.fntdata"/><Relationship Id="rId27" Type="http://schemas.openxmlformats.org/officeDocument/2006/relationships/font" Target="fonts/Poppins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regular.fntdata"/><Relationship Id="rId16" Type="http://schemas.openxmlformats.org/officeDocument/2006/relationships/slide" Target="slides/slide10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4523333"/>
            <a:ext cx="57150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925478" y="1182141"/>
            <a:ext cx="834104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B365D"/>
                </a:solidFill>
                <a:latin typeface="Poppins"/>
                <a:ea typeface="Poppins"/>
                <a:cs typeface="Poppins"/>
                <a:sym typeface="Poppins"/>
              </a:rPr>
              <a:t>SAP Transformation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B365D"/>
                </a:solidFill>
                <a:latin typeface="Poppins"/>
                <a:ea typeface="Poppins"/>
                <a:cs typeface="Poppins"/>
                <a:sym typeface="Poppins"/>
              </a:rPr>
              <a:t> Optimization Accelerator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76612" y="2713583"/>
            <a:ext cx="54387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Reducing Cost and Risk in ECC to S/4 Programs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38500" y="4913858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Field CTO Perspective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Accion Labs Strategic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57250" y="2862262"/>
            <a:ext cx="3114675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8%</a:t>
            </a: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On-Time Completion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4248150" y="2576512"/>
            <a:ext cx="9525" cy="17049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543425" y="2862262"/>
            <a:ext cx="3114675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65%</a:t>
            </a: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Post-Go-Live Defects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934325" y="2576512"/>
            <a:ext cx="9525" cy="17049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229600" y="2862262"/>
            <a:ext cx="310515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1.5x</a:t>
            </a: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Min. SI vs License Fee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04348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Cost overruns are overwhelmingly driven by unclear legacy scope, manual code rework, and testing bloat. As a result, CFO scrutiny on transformation ROI is at an all-time high.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571500"/>
            <a:ext cx="113514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Large SAP programs are over budget and slower than expected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1143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43363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90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Technical Debt Bottlenecks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962775" y="2433637"/>
            <a:ext cx="489061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90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Execution Risks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04875" y="29479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Custom Code Opaque: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Decades of ABAP custom code are poorly understood and rarely documented.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04875" y="37576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Scoping Gaps: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Testing scope inflates because dependency graphs across systems are unclear.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04875" y="45672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Manual Interpretation: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Migrating logic relies on slow, expensive human analysis.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296150" y="2947987"/>
            <a:ext cx="432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Critical integration failures are identified too late in the lifecycle.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296150" y="3757612"/>
            <a:ext cx="432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Resource competition for shrinking pools of expert SAP talent.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296150" y="4567237"/>
            <a:ext cx="43243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Undocumented data models increase migration failure rates.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9479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7576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5672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962775" y="29479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962775" y="37576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962775" y="45672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Migration inefficiencies are structural, not incidental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9837"/>
            <a:ext cx="3492400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09837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09837"/>
            <a:ext cx="349240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57250" y="2795587"/>
            <a:ext cx="30669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90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Technical Bias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3357562"/>
            <a:ext cx="29209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Standard SAP Readiness Checks provide binary compatibility alerts but lack the deep business context for executing "Retire vs. Refactor" decisions.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35400" y="2795587"/>
            <a:ext cx="306710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90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Manual Dependency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35400" y="3357562"/>
            <a:ext cx="292104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System Integrators rely on spreadsheets and manual workshops, creating isolated knowledge silos that aren't reusable.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13700" y="2795587"/>
            <a:ext cx="306694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A90E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Fragmented Visibility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13700" y="3357562"/>
            <a:ext cx="2920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There is no unified view mapping custom ABAP code directly to underlying data, dependencies, and integration interfaces.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Existing tools identify issues but do not guide decisions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48112"/>
            <a:ext cx="11049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329112"/>
            <a:ext cx="3086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950" y="4329112"/>
            <a:ext cx="3086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4329112"/>
            <a:ext cx="30861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4152900" y="4800600"/>
            <a:ext cx="285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753350" y="4800600"/>
            <a:ext cx="2857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1804987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Direct ADT Integration: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Securely connect AI agents directly to the SAP ECC/S4 landscape via the Model Context Protocol (MCP).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2328862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Multi-Agent Orchestration: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Deploy 24 specialized AI agents to analyze, read, and interpret custom ABAP code natively.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04875" y="2852737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Reverse-Engineering: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Automatically extract functional and technical specifications from legacy code to surface risks early.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145381" y="4586287"/>
            <a:ext cx="2700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SAP Landscape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209675" y="4910137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ECC &amp; S/4HANA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(Dev/QA/Prod)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745831" y="4586287"/>
            <a:ext cx="2700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AI Agent Layer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810125" y="4910137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SuperClaude MCP Framework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(150+ Native Tools)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46281" y="4586287"/>
            <a:ext cx="2700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365D"/>
                </a:solidFill>
                <a:latin typeface="Lato"/>
                <a:ea typeface="Lato"/>
                <a:cs typeface="Lato"/>
                <a:sym typeface="Lato"/>
              </a:rPr>
              <a:t>Executive Insights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410575" y="4910137"/>
            <a:ext cx="2571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Automated Specs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Code Intelligence &amp; Risks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18049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23288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28527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Introduce an AI-assisted SAP estate intelligence layer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571500" y="1966912"/>
            <a:ext cx="11049000" cy="38766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8"/>
          <p:cNvGraphicFramePr/>
          <p:nvPr/>
        </p:nvGraphicFramePr>
        <p:xfrm>
          <a:off x="571500" y="1966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{C29BD343-FC51-4D8C-8245-8A96983CA8CE}</a:tableStyleId>
              </a:tblPr>
              <a:tblGrid>
                <a:gridCol w="1879700"/>
                <a:gridCol w="4764425"/>
                <a:gridCol w="4404875"/>
              </a:tblGrid>
              <a:tr h="7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Workstream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Technical Capability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Business 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65D"/>
                    </a:solidFill>
                  </a:tcPr>
                </a:tc>
              </a:tr>
              <a:tr h="7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Code Inventory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 automated Clean ABAP, performance, and security reviews.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Classify custom code for targeted Retain/Refactor/Retire.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Dependency Map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Side-by-side programmatic comparison of shared business scenarios.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Visualize downstream impacts and integration risks instantly.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7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Identify exact program linkages via multi-environment profiles.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Decrease non-essential regression testing effort.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Readiness Indicators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Auto-generate functional specifications (Markdown/Excel).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15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Data-driven migration confidence for board reporting.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8"/>
          <p:cNvSpPr/>
          <p:nvPr/>
        </p:nvSpPr>
        <p:spPr>
          <a:xfrm>
            <a:off x="571500" y="3400425"/>
            <a:ext cx="187969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451199" y="3400425"/>
            <a:ext cx="476443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215633" y="3400425"/>
            <a:ext cx="44048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1500" y="4210050"/>
            <a:ext cx="187969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451199" y="4210050"/>
            <a:ext cx="476443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215633" y="4210050"/>
            <a:ext cx="44048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1500" y="5019675"/>
            <a:ext cx="187969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451199" y="5019675"/>
            <a:ext cx="476443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215633" y="5019675"/>
            <a:ext cx="44048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71500" y="5829300"/>
            <a:ext cx="187969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451199" y="5829300"/>
            <a:ext cx="476443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215633" y="5829300"/>
            <a:ext cx="440486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Deliver measurable insights in 6–8 weeks (Pilot Scope)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4125"/>
            <a:ext cx="34924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24125"/>
            <a:ext cx="3492549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24125"/>
            <a:ext cx="34924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857250" y="2809875"/>
            <a:ext cx="30669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30-50%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57250" y="3686175"/>
            <a:ext cx="2920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Faster Code Assessment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57250" y="4124325"/>
            <a:ext cx="2920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Automated multi-agent code analysis eliminates thousands of hours of manual SI review.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635400" y="2809875"/>
            <a:ext cx="30671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20-30%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635400" y="3686175"/>
            <a:ext cx="29210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Reduced Test Effort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4635400" y="4124325"/>
            <a:ext cx="29210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Targeted testing scope driven by exact system dependency graphs rather than blanket regression.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413700" y="2809875"/>
            <a:ext cx="30669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413700" y="3686175"/>
            <a:ext cx="2920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Confidence in Fixed-Bids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413700" y="4124325"/>
            <a:ext cx="2920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Reduce rework and downstream delays by exposing data and logic complexities upfront.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Targeted efficiency gains in high-cost areas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904875" y="2833687"/>
            <a:ext cx="10715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Large S/4 Transformations: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Accelerating standardization on Cencora-scale initiatives by objectively grading legacy code against target architecture.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04875" y="3643312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Data Governance Modernization: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Extracting logic trapped in custom ABAP to inform modern enterprise data strategies.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04875" y="4167187"/>
            <a:ext cx="10715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Pre-Sales &amp; Delivery: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Winning technical trust early by auditing SAP environments faster and more accurately than traditional SI models.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28336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36433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41671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Direct relevance to active and upcoming SAP programs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2225"/>
            <a:ext cx="52387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952500" y="2943225"/>
            <a:ext cx="470058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Pilot Mechanics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952500" y="3457575"/>
            <a:ext cx="44767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952500" y="365760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Timeline:</a:t>
            </a:r>
            <a:r>
              <a:rPr b="0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 6–8 Weeks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52500" y="405765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Team:</a:t>
            </a:r>
            <a:r>
              <a:rPr b="0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 2–3 Engineers + 1 SAP Architect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952500" y="445770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Target:</a:t>
            </a:r>
            <a:r>
              <a:rPr b="0" i="0" lang="en-US" sz="1350" u="none" cap="none" strike="noStrike">
                <a:solidFill>
                  <a:srgbClr val="F3F4F6"/>
                </a:solidFill>
                <a:latin typeface="Lato"/>
                <a:ea typeface="Lato"/>
                <a:cs typeface="Lato"/>
                <a:sym typeface="Lato"/>
              </a:rPr>
              <a:t> Apply to a live or near-term opportunity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715125" y="28336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Secure, multi-environment profiles ensure Dev insights are extracted without risking QA/Prod integrity.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15125" y="3643312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Validate measurable speed and cost outcomes.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715125" y="41671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Establish reusable Accion Labs IP for future SAP engagements.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381750" y="28336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381750" y="36433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381750" y="416718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B365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Small, controlled investment with high upside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295275" y="1819275"/>
            <a:ext cx="116014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B365D"/>
                </a:solidFill>
                <a:latin typeface="Poppins"/>
                <a:ea typeface="Poppins"/>
                <a:cs typeface="Poppins"/>
                <a:sym typeface="Poppins"/>
              </a:rPr>
              <a:t>Move from manual analysis to decision-driven transformation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36480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Improve speed, cost control, and predictability across the SAP lifecycle.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295275" y="4619625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